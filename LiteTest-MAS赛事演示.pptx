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[时长：约 35 秒]</a:t>
            </a:r>
          </a:p>
          <a:p>
            <a:r>
              <a:t>核心信息：赛题对齐强化与补充实验</a:t>
            </a:r>
          </a:p>
          <a:p>
            <a:r>
              <a:t>过渡：进入下一部分。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[时长：约 35 秒]</a:t>
            </a:r>
          </a:p>
          <a:p>
            <a:r>
              <a:t>核心信息：质量、通信与状态如何分开计量？</a:t>
            </a:r>
          </a:p>
          <a:p>
            <a:r>
              <a:t>过渡：进入下一部分。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[时长：约 35 秒]</a:t>
            </a:r>
          </a:p>
          <a:p>
            <a:r>
              <a:t>核心信息：逻辑角色不等于独立 LLM 调用</a:t>
            </a:r>
          </a:p>
          <a:p>
            <a:r>
              <a:t>过渡：进入下一部分。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[时长：约 35 秒]</a:t>
            </a:r>
          </a:p>
          <a:p>
            <a:r>
              <a:t>核心信息：静态信息注册一次，后续只传引用</a:t>
            </a:r>
          </a:p>
          <a:p>
            <a:r>
              <a:t>过渡：进入下一部分。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[时长：约 35 秒]</a:t>
            </a:r>
          </a:p>
          <a:p>
            <a:r>
              <a:t>核心信息：固定 bytes 替代同义状态文本</a:t>
            </a:r>
          </a:p>
          <a:p>
            <a:r>
              <a:t>过渡：进入下一部分。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[时长：约 35 秒]</a:t>
            </a:r>
          </a:p>
          <a:p>
            <a:r>
              <a:t>核心信息：检索、门控、注入与复用分开记录</a:t>
            </a:r>
          </a:p>
          <a:p>
            <a:r>
              <a:t>过渡：进入下一部分。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[时长：约 35 秒]</a:t>
            </a:r>
          </a:p>
          <a:p>
            <a:r>
              <a:t>核心信息：Protocol V1 提升本次成功率，但不更省模型开销</a:t>
            </a:r>
          </a:p>
          <a:p>
            <a:r>
              <a:t>过渡：进入下一部分。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[时长：约 35 秒]</a:t>
            </a:r>
          </a:p>
          <a:p>
            <a:r>
              <a:t>核心信息：S3 最高，S4 负结果仍然存在</a:t>
            </a:r>
          </a:p>
          <a:p>
            <a:r>
              <a:t>过渡：进入下一部分。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[时长：约 35 秒]</a:t>
            </a:r>
          </a:p>
          <a:p>
            <a:r>
              <a:t>核心信息：公开层只保留脱敏聚合与校验信息</a:t>
            </a:r>
          </a:p>
          <a:p>
            <a:r>
              <a:t>过渡：进入下一部分。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[时长：约 35 秒]</a:t>
            </a:r>
          </a:p>
          <a:p>
            <a:r>
              <a:t>核心信息：工程证据完整，性能结论保持克制</a:t>
            </a:r>
          </a:p>
          <a:p>
            <a:r>
              <a:t>过渡：进入下一部分。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24D"/>
                </a:solidFill>
                <a:latin typeface="Microsoft YaHei"/>
              </a:defRPr>
            </a:pPr>
            <a:r>
              <a:t>LiteTest-MAS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60707D"/>
                </a:solidFill>
                <a:latin typeface="Microsoft YaHei"/>
              </a:defRPr>
            </a:pPr>
            <a:r>
              <a:t>赛题对齐强化与补充实验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5029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60707D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65960"/>
            <a:ext cx="109728" cy="65836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1E2933"/>
                </a:solidFill>
                <a:latin typeface="Microsoft YaHei"/>
              </a:defRPr>
            </a:pPr>
            <a:r>
              <a:t>多智能体测试生成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08960"/>
            <a:ext cx="109728" cy="658368"/>
          </a:xfrm>
          <a:prstGeom prst="rect">
            <a:avLst/>
          </a:prstGeom>
          <a:solidFill>
            <a:srgbClr val="D3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90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0">
                <a:solidFill>
                  <a:srgbClr val="1E2933"/>
                </a:solidFill>
                <a:latin typeface="Microsoft YaHei"/>
              </a:defRPr>
            </a:pPr>
            <a:r>
              <a:t>M9 与 M9.1 公开结果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251960"/>
            <a:ext cx="109728" cy="658368"/>
          </a:xfrm>
          <a:prstGeom prst="rect">
            <a:avLst/>
          </a:prstGeom>
          <a:solidFill>
            <a:srgbClr val="C4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33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0">
                <a:solidFill>
                  <a:srgbClr val="1E2933"/>
                </a:solidFill>
                <a:latin typeface="Microsoft YaHei"/>
              </a:defRPr>
            </a:pPr>
            <a:r>
              <a:t>固定任务 · 固定模型 · 可复核边界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24D"/>
                </a:solidFill>
                <a:latin typeface="Microsoft YaHei"/>
              </a:defRPr>
            </a:pPr>
            <a:r>
              <a:t>研究问题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60707D"/>
                </a:solidFill>
                <a:latin typeface="Microsoft YaHei"/>
              </a:defRPr>
            </a:pPr>
            <a:r>
              <a:t>质量、通信与状态如何分开计量？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5029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60707D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65960"/>
            <a:ext cx="109728" cy="65836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1E2933"/>
                </a:solidFill>
                <a:latin typeface="Microsoft YaHei"/>
              </a:defRPr>
            </a:pPr>
            <a:r>
              <a:t>Protocol 是否降低 Agent 通信开销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08960"/>
            <a:ext cx="109728" cy="658368"/>
          </a:xfrm>
          <a:prstGeom prst="rect">
            <a:avLst/>
          </a:prstGeom>
          <a:solidFill>
            <a:srgbClr val="D3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90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0">
                <a:solidFill>
                  <a:srgbClr val="1E2933"/>
                </a:solidFill>
                <a:latin typeface="Microsoft YaHei"/>
              </a:defRPr>
            </a:pPr>
            <a:r>
              <a:t>StateVector 是否替代重复文本状态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251960"/>
            <a:ext cx="109728" cy="658368"/>
          </a:xfrm>
          <a:prstGeom prst="rect">
            <a:avLst/>
          </a:prstGeom>
          <a:solidFill>
            <a:srgbClr val="C4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33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0">
                <a:solidFill>
                  <a:srgbClr val="1E2933"/>
                </a:solidFill>
                <a:latin typeface="Microsoft YaHei"/>
              </a:defRPr>
            </a:pPr>
            <a:r>
              <a:t>门控 Memory 是否减少无关注入与负迁移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24D"/>
                </a:solidFill>
                <a:latin typeface="Microsoft YaHei"/>
              </a:defRPr>
            </a:pPr>
            <a:r>
              <a:t>多 Agent 协作链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60707D"/>
                </a:solidFill>
                <a:latin typeface="Microsoft YaHei"/>
              </a:defRPr>
            </a:pPr>
            <a:r>
              <a:t>逻辑角色不等于独立 LLM 调用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5029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60707D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65960"/>
            <a:ext cx="109728" cy="65836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1E2933"/>
                </a:solidFill>
                <a:latin typeface="Microsoft YaHei"/>
              </a:defRPr>
            </a:pPr>
            <a:r>
              <a:t>Planner → Retriever → TestGen → Executor → Summarizer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08960"/>
            <a:ext cx="109728" cy="658368"/>
          </a:xfrm>
          <a:prstGeom prst="rect">
            <a:avLst/>
          </a:prstGeom>
          <a:solidFill>
            <a:srgbClr val="D3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90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0">
                <a:solidFill>
                  <a:srgbClr val="1E2933"/>
                </a:solidFill>
                <a:latin typeface="Microsoft YaHei"/>
              </a:defRPr>
            </a:pPr>
            <a:r>
              <a:t>角色事件记录 action、input/output reference 与状态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251960"/>
            <a:ext cx="109728" cy="658368"/>
          </a:xfrm>
          <a:prstGeom prst="rect">
            <a:avLst/>
          </a:prstGeom>
          <a:solidFill>
            <a:srgbClr val="C4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33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0">
                <a:solidFill>
                  <a:srgbClr val="1E2933"/>
                </a:solidFill>
                <a:latin typeface="Microsoft YaHei"/>
              </a:defRPr>
            </a:pPr>
            <a:r>
              <a:t>official tests 始终位于 Agent 上下文之外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24D"/>
                </a:solidFill>
                <a:latin typeface="Microsoft YaHei"/>
              </a:defRPr>
            </a:pPr>
            <a:r>
              <a:t>CompactProtocol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60707D"/>
                </a:solidFill>
                <a:latin typeface="Microsoft YaHei"/>
              </a:defRPr>
            </a:pPr>
            <a:r>
              <a:t>静态信息注册一次，后续只传引用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5029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60707D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65960"/>
            <a:ext cx="109728" cy="65836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1E2933"/>
                </a:solidFill>
                <a:latin typeface="Microsoft YaHei"/>
              </a:defRPr>
            </a:pPr>
            <a:r>
              <a:t>sequence 级一次握手与版本协商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08960"/>
            <a:ext cx="109728" cy="658368"/>
          </a:xfrm>
          <a:prstGeom prst="rect">
            <a:avLst/>
          </a:prstGeom>
          <a:solidFill>
            <a:srgbClr val="D3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90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0">
                <a:solidFill>
                  <a:srgbClr val="1E2933"/>
                </a:solidFill>
                <a:latin typeface="Microsoft YaHei"/>
              </a:defRPr>
            </a:pPr>
            <a:r>
              <a:t>capability_id、task_ref、reference_id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251960"/>
            <a:ext cx="109728" cy="658368"/>
          </a:xfrm>
          <a:prstGeom prst="rect">
            <a:avLst/>
          </a:prstGeom>
          <a:solidFill>
            <a:srgbClr val="C4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33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0">
                <a:solidFill>
                  <a:srgbClr val="1E2933"/>
                </a:solidFill>
                <a:latin typeface="Microsoft YaHei"/>
              </a:defRPr>
            </a:pPr>
            <a:r>
              <a:t>确定性序列化与本地可审计 registry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24D"/>
                </a:solidFill>
                <a:latin typeface="Microsoft YaHei"/>
              </a:defRPr>
            </a:pPr>
            <a:r>
              <a:t>StateVector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60707D"/>
                </a:solidFill>
                <a:latin typeface="Microsoft YaHei"/>
              </a:defRPr>
            </a:pPr>
            <a:r>
              <a:t>固定 bytes 替代同义状态文本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5029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60707D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65960"/>
            <a:ext cx="109728" cy="65836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1E2933"/>
                </a:solidFill>
                <a:latin typeface="Microsoft YaHei"/>
              </a:defRPr>
            </a:pPr>
            <a:r>
              <a:t>网络字节序与 schema 校验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08960"/>
            <a:ext cx="109728" cy="658368"/>
          </a:xfrm>
          <a:prstGeom prst="rect">
            <a:avLst/>
          </a:prstGeom>
          <a:solidFill>
            <a:srgbClr val="D3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90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0">
                <a:solidFill>
                  <a:srgbClr val="1E2933"/>
                </a:solidFill>
                <a:latin typeface="Microsoft YaHei"/>
              </a:defRPr>
            </a:pPr>
            <a:r>
              <a:t>33 bytes 对 130 bytes 等价文本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251960"/>
            <a:ext cx="109728" cy="658368"/>
          </a:xfrm>
          <a:prstGeom prst="rect">
            <a:avLst/>
          </a:prstGeom>
          <a:solidFill>
            <a:srgbClr val="C4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33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0">
                <a:solidFill>
                  <a:srgbClr val="1E2933"/>
                </a:solidFill>
                <a:latin typeface="Microsoft YaHei"/>
              </a:defRPr>
            </a:pPr>
            <a:r>
              <a:t>压缩率 0.7462；不等于质量必然提升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24D"/>
                </a:solidFill>
                <a:latin typeface="Microsoft YaHei"/>
              </a:defRPr>
            </a:pPr>
            <a:r>
              <a:t>GatedSharedMemory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60707D"/>
                </a:solidFill>
                <a:latin typeface="Microsoft YaHei"/>
              </a:defRPr>
            </a:pPr>
            <a:r>
              <a:t>检索、门控、注入与复用分开记录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5029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60707D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65960"/>
            <a:ext cx="109728" cy="65836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1E2933"/>
                </a:solidFill>
                <a:latin typeface="Microsoft YaHei"/>
              </a:defRPr>
            </a:pPr>
            <a:r>
              <a:t>query → candidate → hit → accept/reject/abstain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08960"/>
            <a:ext cx="109728" cy="658368"/>
          </a:xfrm>
          <a:prstGeom prst="rect">
            <a:avLst/>
          </a:prstGeom>
          <a:solidFill>
            <a:srgbClr val="D3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90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0">
                <a:solidFill>
                  <a:srgbClr val="1E2933"/>
                </a:solidFill>
                <a:latin typeface="Microsoft YaHei"/>
              </a:defRPr>
            </a:pPr>
            <a:r>
              <a:t>按 dataset、task group、seed、experiment 隔离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251960"/>
            <a:ext cx="109728" cy="658368"/>
          </a:xfrm>
          <a:prstGeom prst="rect">
            <a:avLst/>
          </a:prstGeom>
          <a:solidFill>
            <a:srgbClr val="C4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33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0">
                <a:solidFill>
                  <a:srgbClr val="1E2933"/>
                </a:solidFill>
                <a:latin typeface="Microsoft YaHei"/>
              </a:defRPr>
            </a:pPr>
            <a:r>
              <a:t>有效复用不是因果性能提升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24D"/>
                </a:solidFill>
                <a:latin typeface="Microsoft YaHei"/>
              </a:defRPr>
            </a:pPr>
            <a:r>
              <a:t>M9：质量提高伴随成本增加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60707D"/>
                </a:solidFill>
                <a:latin typeface="Microsoft YaHei"/>
              </a:defRPr>
            </a:pPr>
            <a:r>
              <a:t>Protocol V1 提升本次成功率，但不更省模型开销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5029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60707D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E2933"/>
                </a:solidFill>
                <a:latin typeface="Microsoft YaHei"/>
              </a:defRPr>
            </a:pPr>
            <a:r>
              <a:t>G2-G1：+0.15，95% CI [+0.0333, +0.2671]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919472"/>
            <a:ext cx="1417320" cy="120700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4599431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2933"/>
                </a:solidFill>
                <a:latin typeface="Microsoft YaHei"/>
              </a:defRPr>
            </a:pPr>
            <a:r>
              <a:t>0.60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619963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60707D"/>
                </a:solidFill>
                <a:latin typeface="Microsoft YaHei"/>
              </a:defRPr>
            </a:pPr>
            <a:r>
              <a:t>G1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4617720"/>
            <a:ext cx="1417320" cy="150876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4297679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2933"/>
                </a:solidFill>
                <a:latin typeface="Microsoft YaHei"/>
              </a:defRPr>
            </a:pPr>
            <a:r>
              <a:t>0.75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619963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60707D"/>
                </a:solidFill>
                <a:latin typeface="Microsoft YaHei"/>
              </a:defRPr>
            </a:pPr>
            <a:r>
              <a:t>G2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4617720"/>
            <a:ext cx="1417320" cy="1508760"/>
          </a:xfrm>
          <a:prstGeom prst="rect">
            <a:avLst/>
          </a:prstGeom>
          <a:solidFill>
            <a:srgbClr val="D3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297679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2933"/>
                </a:solidFill>
                <a:latin typeface="Microsoft YaHei"/>
              </a:defRPr>
            </a:pPr>
            <a:r>
              <a:t>0.75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619963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60707D"/>
                </a:solidFill>
                <a:latin typeface="Microsoft YaHei"/>
              </a:defRPr>
            </a:pPr>
            <a:r>
              <a:t>G3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19" y="4718304"/>
            <a:ext cx="1417320" cy="1408176"/>
          </a:xfrm>
          <a:prstGeom prst="rect">
            <a:avLst/>
          </a:prstGeom>
          <a:solidFill>
            <a:srgbClr val="C4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59" y="4398264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2933"/>
                </a:solidFill>
                <a:latin typeface="Microsoft YaHei"/>
              </a:defRPr>
            </a:pPr>
            <a:r>
              <a:t>0.70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599" y="619963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60707D"/>
                </a:solidFill>
                <a:latin typeface="Microsoft YaHei"/>
              </a:defRPr>
            </a:pPr>
            <a:r>
              <a:t>G4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24D"/>
                </a:solidFill>
                <a:latin typeface="Microsoft YaHei"/>
              </a:defRPr>
            </a:pPr>
            <a:r>
              <a:t>M9.1：V2 补充实验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60707D"/>
                </a:solidFill>
                <a:latin typeface="Microsoft YaHei"/>
              </a:defRPr>
            </a:pPr>
            <a:r>
              <a:t>S3 最高，S4 负结果仍然存在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5029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60707D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E2933"/>
                </a:solidFill>
                <a:latin typeface="Microsoft YaHei"/>
              </a:defRPr>
            </a:pPr>
            <a:r>
              <a:t>StateVector V2 记录到真实压缩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5020056"/>
            <a:ext cx="1417320" cy="110642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4700016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2933"/>
                </a:solidFill>
                <a:latin typeface="Microsoft YaHei"/>
              </a:defRPr>
            </a:pPr>
            <a:r>
              <a:t>0.55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619963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60707D"/>
                </a:solidFill>
                <a:latin typeface="Microsoft YaHei"/>
              </a:defRPr>
            </a:pPr>
            <a:r>
              <a:t>S1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5020056"/>
            <a:ext cx="1417320" cy="110642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4700016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2933"/>
                </a:solidFill>
                <a:latin typeface="Microsoft YaHei"/>
              </a:defRPr>
            </a:pPr>
            <a:r>
              <a:t>0.55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619963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60707D"/>
                </a:solidFill>
                <a:latin typeface="Microsoft YaHei"/>
              </a:defRPr>
            </a:pPr>
            <a:r>
              <a:t>S2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4919472"/>
            <a:ext cx="1417320" cy="1207008"/>
          </a:xfrm>
          <a:prstGeom prst="rect">
            <a:avLst/>
          </a:prstGeom>
          <a:solidFill>
            <a:srgbClr val="D3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599431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2933"/>
                </a:solidFill>
                <a:latin typeface="Microsoft YaHei"/>
              </a:defRPr>
            </a:pPr>
            <a:r>
              <a:t>0.60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619963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60707D"/>
                </a:solidFill>
                <a:latin typeface="Microsoft YaHei"/>
              </a:defRPr>
            </a:pPr>
            <a:r>
              <a:t>S3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19" y="5020056"/>
            <a:ext cx="1417320" cy="1106424"/>
          </a:xfrm>
          <a:prstGeom prst="rect">
            <a:avLst/>
          </a:prstGeom>
          <a:solidFill>
            <a:srgbClr val="C4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59" y="4700016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2933"/>
                </a:solidFill>
                <a:latin typeface="Microsoft YaHei"/>
              </a:defRPr>
            </a:pPr>
            <a:r>
              <a:t>0.55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599" y="619963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60707D"/>
                </a:solidFill>
                <a:latin typeface="Microsoft YaHei"/>
              </a:defRPr>
            </a:pPr>
            <a:r>
              <a:t>S4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24D"/>
                </a:solidFill>
                <a:latin typeface="Microsoft YaHei"/>
              </a:defRPr>
            </a:pPr>
            <a:r>
              <a:t>安全与可复现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60707D"/>
                </a:solidFill>
                <a:latin typeface="Microsoft YaHei"/>
              </a:defRPr>
            </a:pPr>
            <a:r>
              <a:t>公开层只保留脱敏聚合与校验信息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5029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60707D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65960"/>
            <a:ext cx="109728" cy="65836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1E2933"/>
                </a:solidFill>
                <a:latin typeface="Microsoft YaHei"/>
              </a:defRPr>
            </a:pPr>
            <a:r>
              <a:t>240/240 final records，Strict Verifier valid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08960"/>
            <a:ext cx="109728" cy="658368"/>
          </a:xfrm>
          <a:prstGeom prst="rect">
            <a:avLst/>
          </a:prstGeom>
          <a:solidFill>
            <a:srgbClr val="D3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90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0">
                <a:solidFill>
                  <a:srgbClr val="1E2933"/>
                </a:solidFill>
                <a:latin typeface="Microsoft YaHei"/>
              </a:defRPr>
            </a:pPr>
            <a:r>
              <a:t>private tests、candidate code、raw response 不公开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251960"/>
            <a:ext cx="109728" cy="658368"/>
          </a:xfrm>
          <a:prstGeom prst="rect">
            <a:avLst/>
          </a:prstGeom>
          <a:solidFill>
            <a:srgbClr val="C4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33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0">
                <a:solidFill>
                  <a:srgbClr val="1E2933"/>
                </a:solidFill>
                <a:latin typeface="Microsoft YaHei"/>
              </a:defRPr>
            </a:pPr>
            <a:r>
              <a:t>Windows/openEuler 同 SHA 测试与离线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24D"/>
                </a:solidFill>
                <a:latin typeface="Microsoft YaHei"/>
              </a:defRPr>
            </a:pPr>
            <a: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60707D"/>
                </a:solidFill>
                <a:latin typeface="Microsoft YaHei"/>
              </a:defRPr>
            </a:pPr>
            <a:r>
              <a:t>工程证据完整，性能结论保持克制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5029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60707D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65960"/>
            <a:ext cx="109728" cy="65836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1E2933"/>
                </a:solidFill>
                <a:latin typeface="Microsoft YaHei"/>
              </a:defRPr>
            </a:pPr>
            <a:r>
              <a:t>Protocol 的质量收益不等于通信节省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08960"/>
            <a:ext cx="109728" cy="658368"/>
          </a:xfrm>
          <a:prstGeom prst="rect">
            <a:avLst/>
          </a:prstGeom>
          <a:solidFill>
            <a:srgbClr val="D3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90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0">
                <a:solidFill>
                  <a:srgbClr val="1E2933"/>
                </a:solidFill>
                <a:latin typeface="Microsoft YaHei"/>
              </a:defRPr>
            </a:pPr>
            <a:r>
              <a:t>StateVector 证明状态压缩，不证明质量必升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251960"/>
            <a:ext cx="109728" cy="658368"/>
          </a:xfrm>
          <a:prstGeom prst="rect">
            <a:avLst/>
          </a:prstGeom>
          <a:solidFill>
            <a:srgbClr val="C4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3367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0">
                <a:solidFill>
                  <a:srgbClr val="1E2933"/>
                </a:solidFill>
                <a:latin typeface="Microsoft YaHei"/>
              </a:defRPr>
            </a:pPr>
            <a:r>
              <a:t>Memory 有真实复用，负迁移风险仍需保留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